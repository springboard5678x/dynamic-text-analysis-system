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5" r:id="rId6"/>
    <p:sldId id="262" r:id="rId7"/>
    <p:sldId id="276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7" r:id="rId16"/>
    <p:sldId id="273" r:id="rId17"/>
    <p:sldId id="274" r:id="rId18"/>
    <p:sldId id="279" r:id="rId19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533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4BA1D-BDFA-7435-A6D5-CECCAD3A9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60ECF-DCEF-3B92-8E00-BE599D9A7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83C02-5498-665B-E3AB-8C620C126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51C3C-C9CD-4D5D-8E6E-2FCA06301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10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1858-527C-2D59-8303-2E40F8AFF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DF350-D47B-98C4-F983-497148FC5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F02D01-216D-5C67-F6ED-3F4BBC0EF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BFD98-E49F-F706-5C8D-0ECF6DF85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37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FBD21-2610-B50C-36AB-2247D55A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9C598-89C6-5E6B-C9C4-3B790C222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92C4A-FC6A-4962-FD10-6791E0E55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5A76E-D4EA-FA82-0D0E-1EC1BAAFF1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691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BD63-DE32-DD3E-FC69-E7CDD508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5EF67-DE09-2784-8CC7-2A12C4F84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F8E6D-DEE2-DDDF-896F-130A11E4F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E451E-C485-CD84-7092-733FE7806A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2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443" y="1751189"/>
            <a:ext cx="7773114" cy="367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0"/>
              </a:lnSpc>
              <a:buNone/>
            </a:pPr>
            <a:r>
              <a:rPr lang="en-US" sz="4400" b="1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NarrativeNexus: The Dynamic Text Analysis Platform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443" y="4763929"/>
            <a:ext cx="7773114" cy="979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Advanced NLP for Automated Insights and Summarization</a:t>
            </a:r>
            <a:endParaRPr lang="en-US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443" y="6428423"/>
            <a:ext cx="7773114" cy="39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AJAY VAIRAM 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811233-131A-A99E-275A-BFD02C67E8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51" r="19908"/>
          <a:stretch>
            <a:fillRect/>
          </a:stretch>
        </p:blipFill>
        <p:spPr>
          <a:xfrm>
            <a:off x="8940801" y="0"/>
            <a:ext cx="568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373" y="547449"/>
            <a:ext cx="4960025" cy="619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Table of Contents</a:t>
            </a:r>
            <a:endParaRPr lang="en-US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4373" y="1564124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Overview of the Project and its 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4373" y="1950839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Dataset Overview and Key Insights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4373" y="2337554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75636" y="2733882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Data Collection &amp; Input Handling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75636" y="3101371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Data Preprocessing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75635" y="3497699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Topic Modeling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5634" y="3865188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Sentiment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75633" y="4232677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Summarization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5636" y="4632394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Visualization &amp; Reporting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4373" y="5044559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Architecture Diagram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4373" y="5431274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Expected Deliverables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4373" y="5817989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Results &amp; Insights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4373" y="6204704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User Interface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94373" y="6591419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Challenges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4373" y="6978134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Future Scope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4373" y="7364849"/>
            <a:ext cx="13241655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3453" y="4341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Project Overview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D5B73A-1431-3025-0DD6-3BBDB83884F8}"/>
              </a:ext>
            </a:extLst>
          </p:cNvPr>
          <p:cNvSpPr txBox="1"/>
          <p:nvPr/>
        </p:nvSpPr>
        <p:spPr>
          <a:xfrm>
            <a:off x="553453" y="1852642"/>
            <a:ext cx="1377615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OBJECTIVE:</a:t>
            </a:r>
            <a:br>
              <a:rPr lang="en-US" sz="2400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To build a dynamic text analysis platform that processes raw text, extracts meaningful topics, detects sentiment, and summarizes data into concise insights.</a:t>
            </a:r>
          </a:p>
          <a:p>
            <a:endParaRPr lang="en-US" sz="2400" dirty="0">
              <a:latin typeface="Times New Roman" panose="02020603050405020304" pitchFamily="18" charset="0"/>
              <a:ea typeface="Crimson Pro Bold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GOAL:</a:t>
            </a:r>
            <a:br>
              <a:rPr lang="en-US" sz="2400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To automate text understanding and help users gain valuable insights efficiently.</a:t>
            </a:r>
          </a:p>
          <a:p>
            <a:endParaRPr lang="en-US" sz="2400" dirty="0">
              <a:latin typeface="Times New Roman" panose="02020603050405020304" pitchFamily="18" charset="0"/>
              <a:ea typeface="Crimson Pro Bold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OUTCOMES:</a:t>
            </a:r>
            <a:br>
              <a:rPr lang="en-US" sz="2400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• Extracts hidden themes from large text data</a:t>
            </a:r>
            <a:br>
              <a:rPr lang="en-US" sz="2400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• Classifies sentiments (positive/negative)</a:t>
            </a:r>
            <a:br>
              <a:rPr lang="en-US" sz="2400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Crimson Pro Bold"/>
                <a:cs typeface="Times New Roman" panose="02020603050405020304" pitchFamily="18" charset="0"/>
              </a:rPr>
              <a:t>• Generates automated summaries for quick review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7357" y="296459"/>
            <a:ext cx="5410200" cy="676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Dataset Overview</a:t>
            </a:r>
            <a:endParaRPr lang="en-US" sz="42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E4DAA6-A7E6-DC6C-BA11-8E213080CDBC}"/>
              </a:ext>
            </a:extLst>
          </p:cNvPr>
          <p:cNvSpPr txBox="1"/>
          <p:nvPr/>
        </p:nvSpPr>
        <p:spPr>
          <a:xfrm>
            <a:off x="757357" y="1468832"/>
            <a:ext cx="1322270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IMDb_10K Dataset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10,000 Rows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2 Columns — Review and Sentiment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reviews labeled as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data suitable for text and sentiment modeling.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CHOICE: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Contains diverse real-world movie reviews with clear emotional tone.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Balanced dataset with equal positive and negative sentiments for unbiased analysis.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Ideal for training and evaluating NLP models like topic modeling and sentiment analysis.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9D506-CA2E-6510-1F42-E17C62CF3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9ACA7A4-9D94-16AB-B19E-BA99B9FC565D}"/>
              </a:ext>
            </a:extLst>
          </p:cNvPr>
          <p:cNvSpPr/>
          <p:nvPr/>
        </p:nvSpPr>
        <p:spPr>
          <a:xfrm>
            <a:off x="757357" y="94443"/>
            <a:ext cx="5410200" cy="676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00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Methodology</a:t>
            </a:r>
            <a:endParaRPr lang="en-US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80C615-C9A3-F9A4-C2C9-B569C7EEA857}"/>
              </a:ext>
            </a:extLst>
          </p:cNvPr>
          <p:cNvSpPr txBox="1"/>
          <p:nvPr/>
        </p:nvSpPr>
        <p:spPr>
          <a:xfrm>
            <a:off x="757358" y="1010652"/>
            <a:ext cx="127407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Input Handling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IMDb_10K dataset (.csv, .txt, .docx).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Validate and handle missing or invalid entries.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 text by removing punctuation, symbols, and stop words.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Normalize data through tokenization and lemmatization.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Modeling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LDA and NMF algorithms to extract hidden themes.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keywords representing major discussion topics.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Classify text as positive or negative using NLP models.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Determine emotional polarity from the review text.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extractive and abstractive summarization.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concise summaries of lengthy IMDb reviews.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Reporting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Visualize results using word clouds, bar charts, and sentiment graphs.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analytical reports for end users.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lantUML diagram">
            <a:extLst>
              <a:ext uri="{FF2B5EF4-FFF2-40B4-BE49-F238E27FC236}">
                <a16:creationId xmlns:a16="http://schemas.microsoft.com/office/drawing/2014/main" id="{B59848F1-68E3-0EDF-4D2A-4BE867496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126" y="555816"/>
            <a:ext cx="4305931" cy="711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31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7090" y="262731"/>
            <a:ext cx="986151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Data Collection &amp; Input Handling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7090" y="1615202"/>
            <a:ext cx="11283910" cy="6017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IMDb_10K dataset consisting of 10,000 reviews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sentiments.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HANDLING: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Accepts text data in multiple formats — .csv, .txt, and .docx.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User-friendly interface developed for uploading and managing files.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uploaded data follows required structure.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Detects and handles missing or corrupted entries automatically.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EB6FF-C843-8391-2D5D-D223364E1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3D03A13-E994-7655-230A-087360DD76A6}"/>
              </a:ext>
            </a:extLst>
          </p:cNvPr>
          <p:cNvSpPr/>
          <p:nvPr/>
        </p:nvSpPr>
        <p:spPr>
          <a:xfrm>
            <a:off x="527090" y="563520"/>
            <a:ext cx="986151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Data Preprocessing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8AE4E4-03D1-345B-ACDA-EC11B2297615}"/>
              </a:ext>
            </a:extLst>
          </p:cNvPr>
          <p:cNvSpPr txBox="1"/>
          <p:nvPr/>
        </p:nvSpPr>
        <p:spPr>
          <a:xfrm>
            <a:off x="527090" y="1680289"/>
            <a:ext cx="1283331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Removed punctuation, special characters, and numerical values.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Eliminated stop words such as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is, the, and, of,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Converted all text to lowercase for uniformity.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Applied tokenization to split text into words or tokens.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lemmatization to reduce words to their base form.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IMPROVEMENT: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Ensured consistent structure and removed redundant spaces or symbols.</a:t>
            </a:r>
          </a:p>
        </p:txBody>
      </p:sp>
    </p:spTree>
    <p:extLst>
      <p:ext uri="{BB962C8B-B14F-4D97-AF65-F5344CB8AC3E}">
        <p14:creationId xmlns:p14="http://schemas.microsoft.com/office/powerpoint/2010/main" val="654081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5900" y="2001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Topic Modeling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C84ABA-D4A9-0470-E19E-826E10234D07}"/>
              </a:ext>
            </a:extLst>
          </p:cNvPr>
          <p:cNvSpPr txBox="1"/>
          <p:nvPr/>
        </p:nvSpPr>
        <p:spPr>
          <a:xfrm>
            <a:off x="215900" y="1155700"/>
            <a:ext cx="1432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 Dirichlet Allocation (LDA)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topic extraction.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Trained LDA on IMDb_10K_CLEAN dataset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CountVectorizer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Evaluated models with different topic counts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Perplexity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Coherence Score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Selected optimal model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topics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(Best Coherence: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0.3856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Topics discovered: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Storyline, Acting, Comedy, War, Life, Character, Horror, Crime.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topic represented distinct clusters of words and sentiments.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1210C4-B800-235B-12E5-7248B95115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6"/>
          <a:stretch>
            <a:fillRect/>
          </a:stretch>
        </p:blipFill>
        <p:spPr>
          <a:xfrm>
            <a:off x="214267" y="4818797"/>
            <a:ext cx="14201866" cy="32259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1690" y="2857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Sentiment Analysis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0CD1555-8772-65BB-C9AD-8319459D6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80" t="5916" r="15027" b="3999"/>
          <a:stretch>
            <a:fillRect/>
          </a:stretch>
        </p:blipFill>
        <p:spPr>
          <a:xfrm>
            <a:off x="8660674" y="3808402"/>
            <a:ext cx="5639526" cy="37934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62F1DB4-545E-8FAA-9FF4-099E011BE441}"/>
              </a:ext>
            </a:extLst>
          </p:cNvPr>
          <p:cNvSpPr txBox="1"/>
          <p:nvPr/>
        </p:nvSpPr>
        <p:spPr>
          <a:xfrm>
            <a:off x="330200" y="1449805"/>
            <a:ext cx="8509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Vectorizer +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SGDClassifier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(Logistic Regression loss)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Final Accuracy →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87.9%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F1-Score →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0.88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 Loss →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0.4054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Stable convergence across 30 epochs.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Balanced sentiment detection: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 - Positive Reviews → 50.3%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 - Negative Reviews → 49.7%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D8FD8E-00A8-DE25-2493-CC2B3B761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440706"/>
            <a:ext cx="5752183" cy="3243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8190" y="2139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Summarization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445AA-F80A-7626-BCD8-319DF89ED369}"/>
              </a:ext>
            </a:extLst>
          </p:cNvPr>
          <p:cNvSpPr txBox="1"/>
          <p:nvPr/>
        </p:nvSpPr>
        <p:spPr>
          <a:xfrm>
            <a:off x="438190" y="1067812"/>
            <a:ext cx="158369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Extractive Summarization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selected most representative sentences using sentence embeddings.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Abstractive Summarization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BART-large CNN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rewriting concise summaries.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Generated summaries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verified topics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summaries passed uniqueness validation (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duplicates detected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Balanced between factual accuracy and readability.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4E6E9E-811D-077C-5619-EC2F4AE175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21"/>
          <a:stretch>
            <a:fillRect/>
          </a:stretch>
        </p:blipFill>
        <p:spPr>
          <a:xfrm>
            <a:off x="472804" y="4507377"/>
            <a:ext cx="13719406" cy="3722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88451E-C254-CE75-2D48-CD84F53DBC78}"/>
              </a:ext>
            </a:extLst>
          </p:cNvPr>
          <p:cNvSpPr txBox="1"/>
          <p:nvPr/>
        </p:nvSpPr>
        <p:spPr>
          <a:xfrm>
            <a:off x="626351" y="4184211"/>
            <a:ext cx="6400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summaries for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verified topics:</a:t>
            </a:r>
            <a:b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u="sn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7390" y="209113"/>
            <a:ext cx="62379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Visualization &amp; Reporting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5D96CA-04E0-653E-67D8-27AFCE034F6C}"/>
              </a:ext>
            </a:extLst>
          </p:cNvPr>
          <p:cNvSpPr txBox="1"/>
          <p:nvPr/>
        </p:nvSpPr>
        <p:spPr>
          <a:xfrm>
            <a:off x="609600" y="1228397"/>
            <a:ext cx="6985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TOOLS USED: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WordCloud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GENERATED: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Clouds: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Displayed top keywords per topic.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Graphs: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polarity distribution.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Frequency Charts: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Indicated dominant discussion areas.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05C7D5-4365-857D-F49C-EF279F881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811" y="3691223"/>
            <a:ext cx="7707701" cy="44012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40C3B7A-AFDF-D1AD-239D-ADA3C4182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14" y="4411128"/>
            <a:ext cx="5752183" cy="3243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8F5A6F-DF59-BFD8-916D-1B2034E65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137173"/>
            <a:ext cx="6648792" cy="37149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9136" y="357068"/>
            <a:ext cx="5047655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Architecture Diagram</a:t>
            </a:r>
            <a:endParaRPr lang="en-US" sz="39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036D98-0B23-63D8-9E30-CCA67FF03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413" y="988099"/>
            <a:ext cx="10839573" cy="68311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2490" y="304919"/>
            <a:ext cx="20510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Results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6B8D5F-7F9B-8483-F4EB-C0138F6FA972}"/>
              </a:ext>
            </a:extLst>
          </p:cNvPr>
          <p:cNvSpPr txBox="1"/>
          <p:nvPr/>
        </p:nvSpPr>
        <p:spPr>
          <a:xfrm>
            <a:off x="711200" y="1539121"/>
            <a:ext cx="12903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SUMMARY: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Topic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Optimal Topics: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Coherence: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0.3856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Sentiment Analysis – Accuracy: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87.9%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F1: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0.88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Summarization –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and verified summaries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 topics.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 FILES: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lda_model_8topics.pkl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vectorizer.pkl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IMDB_10K_SGD_SENTIMENT.csv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TOPIC_SUMMARIES_IMPROVED.csv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RESULT: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High-quality end-to-end pipeline successfully converting raw text into structured, insightful, and summarized data.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90" y="2293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User Interface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E0BA43-4274-A423-28BE-DF07ED128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90" y="938092"/>
            <a:ext cx="7029410" cy="35323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37EA4D9-43A5-DD71-AC2B-3A63BFB68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4527030"/>
            <a:ext cx="6883400" cy="3473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1D3E598-9A86-85D2-A6AA-DA1D22F86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200" y="938093"/>
            <a:ext cx="7029410" cy="35323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20FF3D6-7AD2-C5BA-9653-2612C478E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2200" y="4527031"/>
            <a:ext cx="7029410" cy="35140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F4C9-98EF-5903-194F-B0031B310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72C7E96-C001-4604-585D-71240D954D25}"/>
              </a:ext>
            </a:extLst>
          </p:cNvPr>
          <p:cNvSpPr/>
          <p:nvPr/>
        </p:nvSpPr>
        <p:spPr>
          <a:xfrm>
            <a:off x="552490" y="788244"/>
            <a:ext cx="20510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Challenges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5BB21A-BC0B-5AF9-2176-DA4E6AF62A2B}"/>
              </a:ext>
            </a:extLst>
          </p:cNvPr>
          <p:cNvSpPr txBox="1"/>
          <p:nvPr/>
        </p:nvSpPr>
        <p:spPr>
          <a:xfrm>
            <a:off x="711200" y="2037308"/>
            <a:ext cx="12903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Quality Issues: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Presence of noisy, unstructured IMDb reviews with inconsistent formatting and HTML tags.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Tuning: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Optimizing hyperparameters (number of topics, coherence threshold, and TF-IDF features) required multiple experiments.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Constraints: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computational load for LDA training and BART summarization due to large text size.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Combining preprocessing, topic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sentiment analysis, and summarization into a seamless workflow.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145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5930" y="1053737"/>
            <a:ext cx="5542359" cy="692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Future Scope</a:t>
            </a:r>
            <a:endParaRPr lang="en-US" sz="43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E6B53-3AAF-760E-75B8-8070282C6A50}"/>
              </a:ext>
            </a:extLst>
          </p:cNvPr>
          <p:cNvSpPr txBox="1"/>
          <p:nvPr/>
        </p:nvSpPr>
        <p:spPr>
          <a:xfrm>
            <a:off x="775930" y="2406640"/>
            <a:ext cx="120269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Multilingual Expansion: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platform to handle multiple languages (Tamil, Hindi, Spanish, etc.).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Analysis: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with APIs and social media streams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sentiment tracking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Enhancement: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Upgrade summarization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GPT-based abstractive models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richer context understanding.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Host as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SaaS platform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secure data access and scalability.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47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Conclusion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53E7A-14D0-AEE3-ADC1-A0ED338BC5B4}"/>
              </a:ext>
            </a:extLst>
          </p:cNvPr>
          <p:cNvSpPr txBox="1"/>
          <p:nvPr/>
        </p:nvSpPr>
        <p:spPr>
          <a:xfrm>
            <a:off x="793790" y="2247900"/>
            <a:ext cx="1349371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designed and implemented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Text Analysis Platform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NarrativeNexus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Integrated NLP techniques —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Modeling, Sentiment Analysis, and Text Summarization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 one unified system.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87.9% sentiment accuracy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topic-based summaries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verified coherence.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users with actionable insights, saving time and improving decision-making.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203D-43CF-CC1A-8869-5BCEC94FC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9F066F-7F82-B9C5-4752-AACD619E4C73}"/>
              </a:ext>
            </a:extLst>
          </p:cNvPr>
          <p:cNvSpPr/>
          <p:nvPr/>
        </p:nvSpPr>
        <p:spPr>
          <a:xfrm>
            <a:off x="4616490" y="37604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9600" b="1" dirty="0">
                <a:latin typeface="Times New Roman" panose="02020603050405020304" pitchFamily="18" charset="0"/>
                <a:ea typeface="Crimson Pro Bold" pitchFamily="34" charset="-122"/>
                <a:cs typeface="Times New Roman" panose="02020603050405020304" pitchFamily="18" charset="0"/>
              </a:rPr>
              <a:t>Thank You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298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1162</Words>
  <Application>Microsoft Office PowerPoint</Application>
  <PresentationFormat>Custom</PresentationFormat>
  <Paragraphs>130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AJAY VAIRAM T</dc:creator>
  <cp:lastModifiedBy>AJAY VAIRAM T</cp:lastModifiedBy>
  <cp:revision>6</cp:revision>
  <dcterms:created xsi:type="dcterms:W3CDTF">2025-11-08T17:45:14Z</dcterms:created>
  <dcterms:modified xsi:type="dcterms:W3CDTF">2025-11-11T13:20:28Z</dcterms:modified>
</cp:coreProperties>
</file>
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  <p:embeddedFont>
      <p:font typeface="Times New Roman MT" panose="020B0604020202020204" charset="0"/>
      <p:regular r:id="rId20"/>
    </p:embeddedFont>
    <p:embeddedFont>
      <p:font typeface="TT Interphases" panose="020B0604020202020204" charset="0"/>
      <p:regular r:id="rId21"/>
    </p:embeddedFont>
    <p:embeddedFont>
      <p:font typeface="TT Interphase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2705100"/>
            <a:ext cx="5652968" cy="62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18"/>
              </a:lnSpc>
            </a:pPr>
            <a:r>
              <a:rPr lang="en-US" sz="10018" spc="-49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Dynamic AI text analysis Platform</a:t>
            </a:r>
          </a:p>
          <a:p>
            <a:pPr algn="l">
              <a:lnSpc>
                <a:spcPct val="250000"/>
              </a:lnSpc>
            </a:pPr>
            <a:r>
              <a:rPr lang="en-US" sz="3600" spc="-49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 by  S  M  Yogeesh</a:t>
            </a:r>
          </a:p>
        </p:txBody>
      </p:sp>
      <p:sp>
        <p:nvSpPr>
          <p:cNvPr id="3" name="Freeform 3"/>
          <p:cNvSpPr/>
          <p:nvPr/>
        </p:nvSpPr>
        <p:spPr>
          <a:xfrm>
            <a:off x="6400800" y="3390900"/>
            <a:ext cx="1219200" cy="1066800"/>
          </a:xfrm>
          <a:custGeom>
            <a:avLst/>
            <a:gdLst/>
            <a:ahLst/>
            <a:cxnLst/>
            <a:rect l="l" t="t" r="r" b="b"/>
            <a:pathLst>
              <a:path w="1288630" h="1288630">
                <a:moveTo>
                  <a:pt x="0" y="0"/>
                </a:moveTo>
                <a:lnTo>
                  <a:pt x="1288631" y="0"/>
                </a:lnTo>
                <a:lnTo>
                  <a:pt x="1288631" y="1288630"/>
                </a:lnTo>
                <a:lnTo>
                  <a:pt x="0" y="1288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9444529" y="850606"/>
            <a:ext cx="8018306" cy="6504851"/>
          </a:xfrm>
          <a:custGeom>
            <a:avLst/>
            <a:gdLst/>
            <a:ahLst/>
            <a:cxnLst/>
            <a:rect l="l" t="t" r="r" b="b"/>
            <a:pathLst>
              <a:path w="8018306" h="6504851">
                <a:moveTo>
                  <a:pt x="0" y="0"/>
                </a:moveTo>
                <a:lnTo>
                  <a:pt x="8018307" y="0"/>
                </a:lnTo>
                <a:lnTo>
                  <a:pt x="8018307" y="6504851"/>
                </a:lnTo>
                <a:lnTo>
                  <a:pt x="0" y="6504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5045" y="587090"/>
            <a:ext cx="14377733" cy="867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sz="3488" b="1" spc="-17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 and Key Insights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and Evaluation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Interface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  <a:p>
            <a:pPr marL="753117" lvl="1" indent="-376559" algn="l">
              <a:lnSpc>
                <a:spcPts val="4883"/>
              </a:lnSpc>
              <a:buAutoNum type="arabicPeriod"/>
            </a:pPr>
            <a:r>
              <a:rPr lang="en-US" sz="3488" spc="-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>
              <a:lnSpc>
                <a:spcPts val="4883"/>
              </a:lnSpc>
            </a:pPr>
            <a:endParaRPr lang="en-US" sz="3488" spc="-17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1735690" y="1508698"/>
            <a:ext cx="4916222" cy="4916222"/>
          </a:xfrm>
          <a:custGeom>
            <a:avLst/>
            <a:gdLst/>
            <a:ahLst/>
            <a:cxnLst/>
            <a:rect l="l" t="t" r="r" b="b"/>
            <a:pathLst>
              <a:path w="4916222" h="4916222">
                <a:moveTo>
                  <a:pt x="0" y="0"/>
                </a:moveTo>
                <a:lnTo>
                  <a:pt x="4916222" y="0"/>
                </a:lnTo>
                <a:lnTo>
                  <a:pt x="4916222" y="4916222"/>
                </a:lnTo>
                <a:lnTo>
                  <a:pt x="0" y="4916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33735" y="5710430"/>
            <a:ext cx="5141841" cy="3547870"/>
          </a:xfrm>
          <a:custGeom>
            <a:avLst/>
            <a:gdLst/>
            <a:ahLst/>
            <a:cxnLst/>
            <a:rect l="l" t="t" r="r" b="b"/>
            <a:pathLst>
              <a:path w="5141841" h="3547870">
                <a:moveTo>
                  <a:pt x="0" y="0"/>
                </a:moveTo>
                <a:lnTo>
                  <a:pt x="5141841" y="0"/>
                </a:lnTo>
                <a:lnTo>
                  <a:pt x="5141841" y="3547870"/>
                </a:lnTo>
                <a:lnTo>
                  <a:pt x="0" y="3547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69190" y="776871"/>
            <a:ext cx="6485958" cy="62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sz="4972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6081" y="2234804"/>
            <a:ext cx="11954794" cy="702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9269" lvl="1" indent="-389634" algn="just">
              <a:lnSpc>
                <a:spcPts val="5053"/>
              </a:lnSpc>
              <a:buFont typeface="Arial"/>
              <a:buChar char="•"/>
            </a:pPr>
            <a:r>
              <a:rPr lang="en-US" sz="3609" b="1" spc="-1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  <a:r>
              <a:rPr lang="en-US" sz="3609" spc="-1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Analyze Twitter data to determine passenger sentiment toward US airlines.</a:t>
            </a:r>
          </a:p>
          <a:p>
            <a:pPr marL="779269" lvl="1" indent="-389634" algn="just">
              <a:lnSpc>
                <a:spcPts val="5053"/>
              </a:lnSpc>
              <a:buFont typeface="Arial"/>
              <a:buChar char="•"/>
            </a:pPr>
            <a:r>
              <a:rPr lang="en-US" sz="3609" b="1" spc="-1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Focus</a:t>
            </a:r>
            <a:r>
              <a:rPr lang="en-US" sz="3609" spc="-1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Classify tweets as positive, neutral, or negative using ML and NLP.</a:t>
            </a:r>
          </a:p>
          <a:p>
            <a:pPr marL="779269" lvl="1" indent="-389634" algn="just">
              <a:lnSpc>
                <a:spcPts val="5053"/>
              </a:lnSpc>
              <a:buFont typeface="Arial"/>
              <a:buChar char="•"/>
            </a:pPr>
            <a:r>
              <a:rPr lang="en-US" sz="3609" b="1" spc="-1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Goal:</a:t>
            </a:r>
            <a:r>
              <a:rPr lang="en-US" sz="3609" spc="-1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patterns in customer feedback for service improvement.</a:t>
            </a:r>
          </a:p>
          <a:p>
            <a:pPr marL="779269" lvl="1" indent="-389634" algn="just">
              <a:lnSpc>
                <a:spcPts val="5053"/>
              </a:lnSpc>
              <a:buFont typeface="Arial"/>
              <a:buChar char="•"/>
            </a:pPr>
            <a:r>
              <a:rPr lang="en-US" sz="3609" b="1" spc="-1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Approach:</a:t>
            </a:r>
            <a:r>
              <a:rPr lang="en-US" sz="3609" spc="-1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 text analytics, visualization, and model comparison.</a:t>
            </a:r>
          </a:p>
          <a:p>
            <a:pPr marL="779269" lvl="1" indent="-389634" algn="just">
              <a:lnSpc>
                <a:spcPts val="5053"/>
              </a:lnSpc>
              <a:buFont typeface="Arial"/>
              <a:buChar char="•"/>
            </a:pPr>
            <a:r>
              <a:rPr lang="en-US" sz="3609" b="1" spc="-17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</a:t>
            </a:r>
            <a:r>
              <a:rPr lang="en-US" sz="3609" spc="-1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Python, Scikit-learn, XGBoost, BERT, RoBERTa, TF-IDF, Matplotlib, Seaborn</a:t>
            </a:r>
          </a:p>
          <a:p>
            <a:pPr algn="just">
              <a:lnSpc>
                <a:spcPts val="5053"/>
              </a:lnSpc>
            </a:pPr>
            <a:endParaRPr lang="en-US" sz="3609" spc="-17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00851" y="776916"/>
            <a:ext cx="12091321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OVERVIEW AND KEY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1914" y="2029466"/>
            <a:ext cx="13390258" cy="701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7284" lvl="1" indent="-403642" algn="just">
              <a:lnSpc>
                <a:spcPts val="5234"/>
              </a:lnSpc>
              <a:buFont typeface="Arial"/>
              <a:buChar char="•"/>
            </a:pPr>
            <a:r>
              <a:rPr lang="en-US" sz="3739" spc="-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Twitter US Airline Sentiment (10,980 tweets, Feb 2015).</a:t>
            </a:r>
          </a:p>
          <a:p>
            <a:pPr marL="807284" lvl="1" indent="-403642" algn="just">
              <a:lnSpc>
                <a:spcPts val="5234"/>
              </a:lnSpc>
              <a:buFont typeface="Arial"/>
              <a:buChar char="•"/>
            </a:pPr>
            <a:r>
              <a:rPr lang="en-US" sz="3739" spc="-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Airlines: United, Delta, American, Southwest, US Airways, Virgin America.</a:t>
            </a:r>
          </a:p>
          <a:p>
            <a:pPr marL="807284" lvl="1" indent="-403642" algn="just">
              <a:lnSpc>
                <a:spcPts val="5234"/>
              </a:lnSpc>
              <a:buFont typeface="Arial"/>
              <a:buChar char="•"/>
            </a:pPr>
            <a:r>
              <a:rPr lang="en-US" sz="3739" spc="-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split: Negative 63% (6,915 tweets), Neutral 16% (1,756 tweets), Positive 21%(2,309 tweets).</a:t>
            </a:r>
          </a:p>
          <a:p>
            <a:pPr marL="807284" lvl="1" indent="-403642" algn="just">
              <a:lnSpc>
                <a:spcPts val="5234"/>
              </a:lnSpc>
              <a:buFont typeface="Arial"/>
              <a:buChar char="•"/>
            </a:pPr>
            <a:r>
              <a:rPr lang="en-US" sz="3739" spc="-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complaint areas: Flight delays, poor customer service, baggage loss.</a:t>
            </a:r>
          </a:p>
          <a:p>
            <a:pPr marL="807284" lvl="1" indent="-403642" algn="just">
              <a:lnSpc>
                <a:spcPts val="5234"/>
              </a:lnSpc>
              <a:buFont typeface="Arial"/>
              <a:buChar char="•"/>
            </a:pPr>
            <a:r>
              <a:rPr lang="en-US" sz="3739" spc="-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 Majority of tweets show dissatisfaction; Virgin America has highest positive feedback.</a:t>
            </a:r>
          </a:p>
          <a:p>
            <a:pPr algn="l">
              <a:lnSpc>
                <a:spcPts val="8943"/>
              </a:lnSpc>
            </a:pPr>
            <a:endParaRPr lang="en-US" sz="3739" spc="-18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8587" y="1853206"/>
            <a:ext cx="12166520" cy="7608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1: 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and profiling using the Twitter US Airline Sentiment dataset.</a:t>
            </a:r>
          </a:p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Data preprocessing including cleaning, tokenization, lemmatization, and stop word removal.</a:t>
            </a:r>
          </a:p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3: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Exploratory Data Analysis (EDA) and visualization to identify sentiment patterns and trends.</a:t>
            </a:r>
          </a:p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4: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training using Machine Learning models (SVM, XGBoost) and Deep Learning models (BERT, RoBERTa).</a:t>
            </a:r>
          </a:p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5: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evaluation using performance metrics — Accuracy, Precision, Recall, and F1-Score.</a:t>
            </a:r>
          </a:p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6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Results visualization through charts, graphs, dashboards, and word clouds for better interpretation.</a:t>
            </a:r>
          </a:p>
          <a:p>
            <a:pPr algn="just">
              <a:lnSpc>
                <a:spcPts val="4322"/>
              </a:lnSpc>
            </a:pPr>
            <a:r>
              <a:rPr lang="en-US" sz="3087" b="1" spc="-1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7:</a:t>
            </a:r>
            <a:r>
              <a:rPr lang="en-US" sz="3087" spc="-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Summarization and reporting using extractive and abstractive techniques to generate final insights.</a:t>
            </a:r>
          </a:p>
          <a:p>
            <a:pPr algn="l">
              <a:lnSpc>
                <a:spcPts val="4322"/>
              </a:lnSpc>
            </a:pPr>
            <a:endParaRPr lang="en-US" sz="3087" spc="-15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817697" y="1028700"/>
            <a:ext cx="5251581" cy="7755998"/>
          </a:xfrm>
          <a:custGeom>
            <a:avLst/>
            <a:gdLst/>
            <a:ahLst/>
            <a:cxnLst/>
            <a:rect l="l" t="t" r="r" b="b"/>
            <a:pathLst>
              <a:path w="5251581" h="7755998">
                <a:moveTo>
                  <a:pt x="0" y="0"/>
                </a:moveTo>
                <a:lnTo>
                  <a:pt x="5251581" y="0"/>
                </a:lnTo>
                <a:lnTo>
                  <a:pt x="5251581" y="7755998"/>
                </a:lnTo>
                <a:lnTo>
                  <a:pt x="0" y="775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1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13760" y="977271"/>
            <a:ext cx="5225666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spc="-2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697270"/>
            <a:ext cx="11288660" cy="4353792"/>
          </a:xfrm>
          <a:custGeom>
            <a:avLst/>
            <a:gdLst/>
            <a:ahLst/>
            <a:cxnLst/>
            <a:rect l="l" t="t" r="r" b="b"/>
            <a:pathLst>
              <a:path w="11288660" h="4353792">
                <a:moveTo>
                  <a:pt x="0" y="0"/>
                </a:moveTo>
                <a:lnTo>
                  <a:pt x="11288660" y="0"/>
                </a:lnTo>
                <a:lnTo>
                  <a:pt x="11288660" y="4353792"/>
                </a:lnTo>
                <a:lnTo>
                  <a:pt x="0" y="435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48018" y="776916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PREPROCESSING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2849" y="1743059"/>
            <a:ext cx="16118630" cy="395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274" lvl="1" indent="-399137" algn="just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unwanted elements: URLs, mentions, hashtags, emojis, RT markers.</a:t>
            </a:r>
          </a:p>
          <a:p>
            <a:pPr marL="798274" lvl="1" indent="-399137" algn="just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text to lowercase and normalized spacing.</a:t>
            </a:r>
          </a:p>
          <a:p>
            <a:pPr marL="798274" lvl="1" indent="-399137" algn="just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Tokenized text into words and applied lemmatization.</a:t>
            </a:r>
          </a:p>
          <a:p>
            <a:pPr marL="798274" lvl="1" indent="-399137" algn="just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stop words to retain meaningful terms.</a:t>
            </a:r>
          </a:p>
          <a:p>
            <a:pPr marL="798274" lvl="1" indent="-399137" algn="just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10,980 clean records with ~12 words per tweet and 5,000+ unique keywords.</a:t>
            </a:r>
          </a:p>
          <a:p>
            <a:pPr algn="l">
              <a:lnSpc>
                <a:spcPts val="5176"/>
              </a:lnSpc>
            </a:pPr>
            <a:endParaRPr lang="en-US" sz="3697" spc="-18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116494"/>
            <a:ext cx="8366330" cy="58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2"/>
              </a:lnSpc>
            </a:pPr>
            <a:r>
              <a:rPr lang="en-US" sz="3252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Tweet Preprocessing Results: Original vs. Cleaned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451" y="1299534"/>
            <a:ext cx="17720549" cy="461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tweet text into numerical vectors using TF-IDF.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text normalization before vectorization (lowercasing, stop word removal).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10,000 max features with unigrams and bigrams (n-gram range: 1,2).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document frequency limits  min: 3, max: 90% to remove rare and overly common terms.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a sparse matrix (10,980 × 10,000) for efficient storage.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top keywords such as flight, delay, service, customer, great.</a:t>
            </a:r>
          </a:p>
          <a:p>
            <a:pPr algn="l">
              <a:lnSpc>
                <a:spcPts val="5176"/>
              </a:lnSpc>
            </a:pPr>
            <a:endParaRPr lang="en-US" sz="3697" spc="-18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740413" y="5861351"/>
            <a:ext cx="9735083" cy="4603853"/>
          </a:xfrm>
          <a:custGeom>
            <a:avLst/>
            <a:gdLst/>
            <a:ahLst/>
            <a:cxnLst/>
            <a:rect l="l" t="t" r="r" b="b"/>
            <a:pathLst>
              <a:path w="9735083" h="4603853">
                <a:moveTo>
                  <a:pt x="0" y="0"/>
                </a:moveTo>
                <a:lnTo>
                  <a:pt x="9735083" y="0"/>
                </a:lnTo>
                <a:lnTo>
                  <a:pt x="9735083" y="4603854"/>
                </a:lnTo>
                <a:lnTo>
                  <a:pt x="0" y="4603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28710" y="401307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EXTRACTION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86580" y="5274001"/>
            <a:ext cx="9230580" cy="5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extraction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14230" y="1028700"/>
            <a:ext cx="9096741" cy="9096741"/>
          </a:xfrm>
          <a:custGeom>
            <a:avLst/>
            <a:gdLst/>
            <a:ahLst/>
            <a:cxnLst/>
            <a:rect l="l" t="t" r="r" b="b"/>
            <a:pathLst>
              <a:path w="9096741" h="9096741">
                <a:moveTo>
                  <a:pt x="0" y="0"/>
                </a:moveTo>
                <a:lnTo>
                  <a:pt x="9096741" y="0"/>
                </a:lnTo>
                <a:lnTo>
                  <a:pt x="9096741" y="9096741"/>
                </a:lnTo>
                <a:lnTo>
                  <a:pt x="0" y="9096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61118" y="401307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MODEL ARCHITECTURE.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80125" y="401307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EXPLORATORY DATA ANALYSIS (EDA)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5507" y="1741278"/>
            <a:ext cx="15764028" cy="724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sentiment shows a strong negative bias — 63% negative, 21% positive, 16% neutral.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negative airlines: United (68%), US Airways (65%), American (64%); most positive: Virgin America (35%), Southwest (28%).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tweets are longer, averaging 15–18 words, showing more detailed complaints.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 complaints occur during evening flight delays, weekdays, and weather disruptions.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negative themes: delays, poor service, baggage issues, and ticketing problems.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feedback highlights friendly staff, punctuality, and smooth experiences.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complaints originate from major airports (NYC, LAX, ORD) with minimal regional variation.</a:t>
            </a:r>
          </a:p>
          <a:p>
            <a:pPr algn="l">
              <a:lnSpc>
                <a:spcPts val="5176"/>
              </a:lnSpc>
            </a:pPr>
            <a:endParaRPr lang="en-US" sz="3697" spc="-18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00803" y="401307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VISUALIZATIONS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7916" y="1611642"/>
            <a:ext cx="16140951" cy="606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7361" lvl="1" indent="-408681" algn="l">
              <a:lnSpc>
                <a:spcPts val="5300"/>
              </a:lnSpc>
              <a:buFont typeface="Arial"/>
              <a:buChar char="•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charts: Sentiment bars, pie charts, heatmaps, word clouds.</a:t>
            </a:r>
          </a:p>
          <a:p>
            <a:pPr marL="817361" lvl="1" indent="-408681" algn="l">
              <a:lnSpc>
                <a:spcPts val="5300"/>
              </a:lnSpc>
              <a:buFont typeface="Arial"/>
              <a:buChar char="•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visuals (Plotly): Hover details, zoom, and filtering.</a:t>
            </a:r>
          </a:p>
          <a:p>
            <a:pPr marL="817361" lvl="1" indent="-408681" algn="l">
              <a:lnSpc>
                <a:spcPts val="5300"/>
              </a:lnSpc>
              <a:buFont typeface="Arial"/>
              <a:buChar char="•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visuals:</a:t>
            </a:r>
          </a:p>
          <a:p>
            <a:pPr marL="1634722" lvl="2" indent="-544907" algn="l">
              <a:lnSpc>
                <a:spcPts val="5300"/>
              </a:lnSpc>
              <a:buFont typeface="Arial"/>
              <a:buChar char="⚬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by airline (stacked bar).</a:t>
            </a:r>
          </a:p>
          <a:p>
            <a:pPr marL="1634722" lvl="2" indent="-544907" algn="l">
              <a:lnSpc>
                <a:spcPts val="5300"/>
              </a:lnSpc>
              <a:buFont typeface="Arial"/>
              <a:buChar char="⚬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frequency plots.</a:t>
            </a:r>
          </a:p>
          <a:p>
            <a:pPr marL="1634722" lvl="2" indent="-544907" algn="l">
              <a:lnSpc>
                <a:spcPts val="5300"/>
              </a:lnSpc>
              <a:buFont typeface="Arial"/>
              <a:buChar char="⚬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heatmaps.</a:t>
            </a:r>
          </a:p>
          <a:p>
            <a:pPr marL="817361" lvl="1" indent="-408681" algn="l">
              <a:lnSpc>
                <a:spcPts val="5300"/>
              </a:lnSpc>
              <a:buFont typeface="Arial"/>
              <a:buChar char="•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Dashboard: Combined metrics on one page for clear insights.</a:t>
            </a:r>
          </a:p>
          <a:p>
            <a:pPr marL="817361" lvl="1" indent="-408681" algn="l">
              <a:lnSpc>
                <a:spcPts val="5300"/>
              </a:lnSpc>
              <a:buFont typeface="Arial"/>
              <a:buChar char="•"/>
            </a:pPr>
            <a:r>
              <a:rPr lang="en-US" sz="3785" spc="-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Finding: Negative sentiment visually dominates; service quality is main issue.</a:t>
            </a:r>
          </a:p>
          <a:p>
            <a:pPr algn="l">
              <a:lnSpc>
                <a:spcPts val="5300"/>
              </a:lnSpc>
            </a:pPr>
            <a:endParaRPr lang="en-US" sz="3785" spc="-18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096" y="4346040"/>
            <a:ext cx="9013700" cy="5351885"/>
          </a:xfrm>
          <a:custGeom>
            <a:avLst/>
            <a:gdLst/>
            <a:ahLst/>
            <a:cxnLst/>
            <a:rect l="l" t="t" r="r" b="b"/>
            <a:pathLst>
              <a:path w="9013700" h="5351885">
                <a:moveTo>
                  <a:pt x="0" y="0"/>
                </a:moveTo>
                <a:lnTo>
                  <a:pt x="9013701" y="0"/>
                </a:lnTo>
                <a:lnTo>
                  <a:pt x="9013701" y="5351885"/>
                </a:lnTo>
                <a:lnTo>
                  <a:pt x="0" y="535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13306" y="4698438"/>
            <a:ext cx="8258136" cy="4438748"/>
          </a:xfrm>
          <a:custGeom>
            <a:avLst/>
            <a:gdLst/>
            <a:ahLst/>
            <a:cxnLst/>
            <a:rect l="l" t="t" r="r" b="b"/>
            <a:pathLst>
              <a:path w="8258136" h="4438748">
                <a:moveTo>
                  <a:pt x="0" y="0"/>
                </a:moveTo>
                <a:lnTo>
                  <a:pt x="8258136" y="0"/>
                </a:lnTo>
                <a:lnTo>
                  <a:pt x="8258136" y="4438748"/>
                </a:lnTo>
                <a:lnTo>
                  <a:pt x="0" y="4438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0430" y="0"/>
            <a:ext cx="11849223" cy="4074169"/>
          </a:xfrm>
          <a:custGeom>
            <a:avLst/>
            <a:gdLst/>
            <a:ahLst/>
            <a:cxnLst/>
            <a:rect l="l" t="t" r="r" b="b"/>
            <a:pathLst>
              <a:path w="11849223" h="4074169">
                <a:moveTo>
                  <a:pt x="0" y="0"/>
                </a:moveTo>
                <a:lnTo>
                  <a:pt x="11849223" y="0"/>
                </a:lnTo>
                <a:lnTo>
                  <a:pt x="11849223" y="4074169"/>
                </a:lnTo>
                <a:lnTo>
                  <a:pt x="0" y="4074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2" r="-559" b="-162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935603" y="342316"/>
            <a:ext cx="4610652" cy="3731853"/>
          </a:xfrm>
          <a:custGeom>
            <a:avLst/>
            <a:gdLst/>
            <a:ahLst/>
            <a:cxnLst/>
            <a:rect l="l" t="t" r="r" b="b"/>
            <a:pathLst>
              <a:path w="4610652" h="3731853">
                <a:moveTo>
                  <a:pt x="0" y="0"/>
                </a:moveTo>
                <a:lnTo>
                  <a:pt x="4610652" y="0"/>
                </a:lnTo>
                <a:lnTo>
                  <a:pt x="4610652" y="3731853"/>
                </a:lnTo>
                <a:lnTo>
                  <a:pt x="0" y="3731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629" t="-28773" r="-12550" b="-94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0387" y="4566196"/>
            <a:ext cx="6810661" cy="5127795"/>
          </a:xfrm>
          <a:custGeom>
            <a:avLst/>
            <a:gdLst/>
            <a:ahLst/>
            <a:cxnLst/>
            <a:rect l="l" t="t" r="r" b="b"/>
            <a:pathLst>
              <a:path w="6810661" h="5127795">
                <a:moveTo>
                  <a:pt x="0" y="0"/>
                </a:moveTo>
                <a:lnTo>
                  <a:pt x="6810661" y="0"/>
                </a:lnTo>
                <a:lnTo>
                  <a:pt x="6810661" y="5127794"/>
                </a:lnTo>
                <a:lnTo>
                  <a:pt x="0" y="5127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67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61122" y="4202001"/>
            <a:ext cx="7070357" cy="5184928"/>
          </a:xfrm>
          <a:custGeom>
            <a:avLst/>
            <a:gdLst/>
            <a:ahLst/>
            <a:cxnLst/>
            <a:rect l="l" t="t" r="r" b="b"/>
            <a:pathLst>
              <a:path w="7070357" h="5184928">
                <a:moveTo>
                  <a:pt x="0" y="0"/>
                </a:moveTo>
                <a:lnTo>
                  <a:pt x="7070357" y="0"/>
                </a:lnTo>
                <a:lnTo>
                  <a:pt x="7070357" y="5184928"/>
                </a:lnTo>
                <a:lnTo>
                  <a:pt x="0" y="5184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78544" y="401307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TRAINING AND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0387" y="1181212"/>
            <a:ext cx="16308480" cy="396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1924" lvl="1" indent="-400962" algn="l">
              <a:lnSpc>
                <a:spcPts val="5200"/>
              </a:lnSpc>
              <a:buFont typeface="Arial"/>
              <a:buChar char="•"/>
            </a:pPr>
            <a:r>
              <a:rPr lang="en-US" sz="3714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split: Train 70%, Validation 10%, Test 20% (stratified).</a:t>
            </a:r>
          </a:p>
          <a:p>
            <a:pPr marL="801924" lvl="1" indent="-400962" algn="l">
              <a:lnSpc>
                <a:spcPts val="5200"/>
              </a:lnSpc>
              <a:buFont typeface="Arial"/>
              <a:buChar char="•"/>
            </a:pPr>
            <a:r>
              <a:rPr lang="en-US" sz="3714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5-fold cross-validation and grid search for optimization.</a:t>
            </a:r>
          </a:p>
          <a:p>
            <a:pPr marL="801924" lvl="1" indent="-400962" algn="l">
              <a:lnSpc>
                <a:spcPts val="5200"/>
              </a:lnSpc>
              <a:buFont typeface="Arial"/>
              <a:buChar char="•"/>
            </a:pPr>
            <a:r>
              <a:rPr lang="en-US" sz="3714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Metrics: Accuracy, Precision, Recall, F1-Score, Loss curves.</a:t>
            </a:r>
          </a:p>
          <a:p>
            <a:pPr marL="801924" lvl="1" indent="-400962" algn="l">
              <a:lnSpc>
                <a:spcPts val="5200"/>
              </a:lnSpc>
              <a:buFont typeface="Arial"/>
              <a:buChar char="•"/>
            </a:pPr>
            <a:r>
              <a:rPr lang="en-US" sz="3714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 SVM = 81.33%, Logistic Regression=79.05%,XGBoost=76.68%,</a:t>
            </a:r>
          </a:p>
          <a:p>
            <a:pPr algn="l">
              <a:lnSpc>
                <a:spcPts val="5200"/>
              </a:lnSpc>
            </a:pPr>
            <a:r>
              <a:rPr lang="en-US" sz="3714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Random Forest=70.31%.</a:t>
            </a:r>
          </a:p>
          <a:p>
            <a:pPr algn="l">
              <a:lnSpc>
                <a:spcPts val="5200"/>
              </a:lnSpc>
            </a:pPr>
            <a:endParaRPr lang="en-US" sz="3714" spc="-18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26218" y="9534249"/>
            <a:ext cx="1908517" cy="51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270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Fig 1. SVM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41688" y="9383197"/>
            <a:ext cx="3811105" cy="51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270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Fig 2.Logistic Regression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26127" y="4319778"/>
            <a:ext cx="11756480" cy="5731284"/>
          </a:xfrm>
          <a:custGeom>
            <a:avLst/>
            <a:gdLst/>
            <a:ahLst/>
            <a:cxnLst/>
            <a:rect l="l" t="t" r="r" b="b"/>
            <a:pathLst>
              <a:path w="11756480" h="5731284">
                <a:moveTo>
                  <a:pt x="0" y="0"/>
                </a:moveTo>
                <a:lnTo>
                  <a:pt x="11756480" y="0"/>
                </a:lnTo>
                <a:lnTo>
                  <a:pt x="11756480" y="5731284"/>
                </a:lnTo>
                <a:lnTo>
                  <a:pt x="0" y="5731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08191" y="401307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INTERFACE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3687" y="1476287"/>
            <a:ext cx="15764028" cy="329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interactive web dashboard (HTML, CSS, React , flask ).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real-time statistics, airline-wise charts, and keyword summaries.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13 static and 4 interactive visuals.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Exports PDF, CSV, and text reports.</a:t>
            </a:r>
          </a:p>
          <a:p>
            <a:pPr algn="l">
              <a:lnSpc>
                <a:spcPts val="5176"/>
              </a:lnSpc>
            </a:pPr>
            <a:endParaRPr lang="en-US" sz="3697" spc="-18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08191" y="776916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CHALLENGES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2822" y="1769460"/>
            <a:ext cx="15764028" cy="461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quality: Noisy, unstructured social-media text.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imbalance: Negative tweets dominate → bias risk.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Neutral detection: Ambiguous tone causes confusion.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limits: Transformers need high GPU memory.</a:t>
            </a:r>
          </a:p>
          <a:p>
            <a:pPr marL="798274" lvl="1" indent="-399137" algn="l">
              <a:lnSpc>
                <a:spcPts val="5176"/>
              </a:lnSpc>
              <a:buFont typeface="Arial"/>
              <a:buChar char="•"/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Solutions: Clean pipeline, class-weighted loss, DistilBERT, early stopping, balanced metrics.</a:t>
            </a:r>
          </a:p>
          <a:p>
            <a:pPr algn="l">
              <a:lnSpc>
                <a:spcPts val="5176"/>
              </a:lnSpc>
            </a:pPr>
            <a:endParaRPr lang="en-US" sz="369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13</a:t>
            </a:r>
          </a:p>
        </p:txBody>
      </p:sp>
      <p:sp>
        <p:nvSpPr>
          <p:cNvPr id="5" name="Freeform 5"/>
          <p:cNvSpPr/>
          <p:nvPr/>
        </p:nvSpPr>
        <p:spPr>
          <a:xfrm>
            <a:off x="12218860" y="4708280"/>
            <a:ext cx="5779471" cy="4550020"/>
          </a:xfrm>
          <a:custGeom>
            <a:avLst/>
            <a:gdLst/>
            <a:ahLst/>
            <a:cxnLst/>
            <a:rect l="l" t="t" r="r" b="b"/>
            <a:pathLst>
              <a:path w="5779471" h="4550020">
                <a:moveTo>
                  <a:pt x="0" y="0"/>
                </a:moveTo>
                <a:lnTo>
                  <a:pt x="5779471" y="0"/>
                </a:lnTo>
                <a:lnTo>
                  <a:pt x="5779471" y="4550020"/>
                </a:lnTo>
                <a:lnTo>
                  <a:pt x="0" y="455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08191" y="776916"/>
            <a:ext cx="11638064" cy="62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970" b="1" spc="-24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70482"/>
            <a:ext cx="15764028" cy="4023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274" lvl="1" indent="-399137" algn="l">
              <a:lnSpc>
                <a:spcPts val="6433"/>
              </a:lnSpc>
              <a:buAutoNum type="arabicPeriod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10,980 tweets using Machine learning and Deep learning  models.</a:t>
            </a:r>
          </a:p>
          <a:p>
            <a:pPr marL="798274" lvl="1" indent="-399137" algn="l">
              <a:lnSpc>
                <a:spcPts val="6433"/>
              </a:lnSpc>
              <a:buAutoNum type="arabicPeriod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81.33%% accuracy with SVM .</a:t>
            </a:r>
          </a:p>
          <a:p>
            <a:pPr marL="798274" lvl="1" indent="-399137" algn="l">
              <a:lnSpc>
                <a:spcPts val="6433"/>
              </a:lnSpc>
              <a:buAutoNum type="arabicPeriod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complete visualization and reporting dashboard.</a:t>
            </a:r>
          </a:p>
          <a:p>
            <a:pPr marL="798274" lvl="1" indent="-399137" algn="l">
              <a:lnSpc>
                <a:spcPts val="6433"/>
              </a:lnSpc>
              <a:buAutoNum type="arabicPeriod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Extractive + Abstractive summarization captured key insights.</a:t>
            </a:r>
          </a:p>
          <a:p>
            <a:pPr marL="798274" lvl="1" indent="-399137" algn="l">
              <a:lnSpc>
                <a:spcPts val="6433"/>
              </a:lnSpc>
              <a:buAutoNum type="arabicPeriod"/>
            </a:pPr>
            <a:r>
              <a:rPr lang="en-US" sz="3697" spc="-1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Outcome: Reliable sentiment analysis system for actionable airline insights.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1912" y="9789703"/>
            <a:ext cx="121477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Page No 14</a:t>
            </a:r>
          </a:p>
        </p:txBody>
      </p:sp>
      <p:sp>
        <p:nvSpPr>
          <p:cNvPr id="5" name="Freeform 5"/>
          <p:cNvSpPr/>
          <p:nvPr/>
        </p:nvSpPr>
        <p:spPr>
          <a:xfrm>
            <a:off x="11727223" y="6093638"/>
            <a:ext cx="6376689" cy="3976735"/>
          </a:xfrm>
          <a:custGeom>
            <a:avLst/>
            <a:gdLst/>
            <a:ahLst/>
            <a:cxnLst/>
            <a:rect l="l" t="t" r="r" b="b"/>
            <a:pathLst>
              <a:path w="6376689" h="3976735">
                <a:moveTo>
                  <a:pt x="0" y="0"/>
                </a:moveTo>
                <a:lnTo>
                  <a:pt x="6376689" y="0"/>
                </a:lnTo>
                <a:lnTo>
                  <a:pt x="6376689" y="3976735"/>
                </a:lnTo>
                <a:lnTo>
                  <a:pt x="0" y="3976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99665" y="1028700"/>
            <a:ext cx="8259635" cy="8229600"/>
          </a:xfrm>
          <a:custGeom>
            <a:avLst/>
            <a:gdLst/>
            <a:ahLst/>
            <a:cxnLst/>
            <a:rect l="l" t="t" r="r" b="b"/>
            <a:pathLst>
              <a:path w="8259635" h="8229600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000357"/>
            <a:ext cx="8332616" cy="174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942</Words>
  <Application>Microsoft Office PowerPoint</Application>
  <PresentationFormat>Custom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Times New Roman</vt:lpstr>
      <vt:lpstr>Times New Roman MT</vt:lpstr>
      <vt:lpstr>TT Interphases</vt:lpstr>
      <vt:lpstr>Calibri</vt:lpstr>
      <vt:lpstr>TT Interphases Bold</vt:lpstr>
      <vt:lpstr>Arial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Simple Illustrative Data Analytics Presentation</dc:title>
  <dc:creator>S M Yogesh</dc:creator>
  <cp:lastModifiedBy>S M Yogeesh</cp:lastModifiedBy>
  <cp:revision>2</cp:revision>
  <dcterms:created xsi:type="dcterms:W3CDTF">2006-08-16T00:00:00Z</dcterms:created>
  <dcterms:modified xsi:type="dcterms:W3CDTF">2025-12-04T23:59:39Z</dcterms:modified>
  <dc:identifier>DAG4YbK5azY</dc:identifier>
</cp:coreProperties>
</file>
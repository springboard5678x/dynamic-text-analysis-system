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Playfair Display ExtraBold"/>
      <p:bold r:id="rId32"/>
      <p:boldItalic r:id="rId33"/>
    </p:embeddedFont>
    <p:embeddedFont>
      <p:font typeface="Playfair Display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33" Type="http://schemas.openxmlformats.org/officeDocument/2006/relationships/font" Target="fonts/PlayfairDisplay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ExtraBold-bold.fntdata"/><Relationship Id="rId13" Type="http://schemas.openxmlformats.org/officeDocument/2006/relationships/slide" Target="slides/slide8.xml"/><Relationship Id="rId35" Type="http://schemas.openxmlformats.org/officeDocument/2006/relationships/font" Target="fonts/PlayfairDisplaySemiBold-bold.fntdata"/><Relationship Id="rId12" Type="http://schemas.openxmlformats.org/officeDocument/2006/relationships/slide" Target="slides/slide7.xml"/><Relationship Id="rId34" Type="http://schemas.openxmlformats.org/officeDocument/2006/relationships/font" Target="fonts/PlayfairDisplay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PlayfairDisplay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layfairDisplaySemiBold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6cdc5799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6cdc5799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cdc5799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6cdc5799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6cdc5799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6cdc5799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cdc5799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6cdc5799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6cdc5799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6cdc5799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cdc5799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6cdc5799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6cdc5799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6cdc5799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0336146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0336146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336146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0336146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336146e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0336146e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0336146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0336146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0336146e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0336146e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0336146e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0336146e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4008675" y="697350"/>
            <a:ext cx="3984900" cy="10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Narrative Nexus</a:t>
            </a:r>
            <a:r>
              <a:rPr lang="en"/>
              <a:t>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748800" y="2061725"/>
            <a:ext cx="4992000" cy="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5342">
                <a:highlight>
                  <a:schemeClr val="dk1"/>
                </a:highlight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Dynamic Text Analysis Platform</a:t>
            </a:r>
            <a:endParaRPr sz="1442">
              <a:highlight>
                <a:schemeClr val="dk1"/>
              </a:highlight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0425" y="3390150"/>
            <a:ext cx="2684976" cy="47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112625"/>
            <a:ext cx="32745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26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8988"/>
              <a:buFont typeface="Arial"/>
              <a:buNone/>
            </a:pPr>
            <a:r>
              <a:rPr lang="en" sz="2285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TABLE OF CONTENTS</a:t>
            </a:r>
            <a:endParaRPr sz="334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593950" y="643200"/>
            <a:ext cx="4548000" cy="44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1.Project Overview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2.Dataset  Overview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3.Text Preprocessing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4.Topic Modelling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5.Perplexity and Coherence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6.Summarization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7.Word Cloud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8.User Interface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9.Challenges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770"/>
              <a:buNone/>
            </a:pPr>
            <a:r>
              <a:rPr lang="en" sz="1610">
                <a:latin typeface="Arial"/>
                <a:ea typeface="Arial"/>
                <a:cs typeface="Arial"/>
                <a:sym typeface="Arial"/>
              </a:rPr>
              <a:t>10.Conclusion</a:t>
            </a:r>
            <a:endParaRPr sz="16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SzPts val="770"/>
              <a:buNone/>
            </a:pPr>
            <a:r>
              <a:t/>
            </a:r>
            <a:endParaRPr sz="111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6550" y="1966825"/>
            <a:ext cx="1919649" cy="18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Project overview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076350"/>
            <a:ext cx="7038900" cy="3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Objective :</a:t>
            </a:r>
            <a:endParaRPr b="1"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To build a  model that analyzes the sentiment of the given text whether it is a positive , negative or neutral statement and also other analysis like summarization,keywords extraction etc. This text analysis is very essential for real world applications like 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Market Research ,Social Media Monitoring , Product Development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Outcomes:</a:t>
            </a:r>
            <a:endParaRPr b="1"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 trained model that detects the sentiment of the given text and also shows other analysis on which the model has trained.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Dataset Overview</a:t>
            </a:r>
            <a:endParaRPr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883675"/>
            <a:ext cx="7280700" cy="4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latin typeface="Arial"/>
                <a:ea typeface="Arial"/>
                <a:cs typeface="Arial"/>
                <a:sym typeface="Arial"/>
              </a:rPr>
              <a:t>Structure</a:t>
            </a:r>
            <a:br>
              <a:rPr b="1" lang="en" sz="4800">
                <a:latin typeface="Arial"/>
                <a:ea typeface="Arial"/>
                <a:cs typeface="Arial"/>
                <a:sym typeface="Arial"/>
              </a:rPr>
            </a:br>
            <a:r>
              <a:rPr b="1" lang="en" sz="4800">
                <a:latin typeface="Arial"/>
                <a:ea typeface="Arial"/>
                <a:cs typeface="Arial"/>
                <a:sym typeface="Arial"/>
              </a:rPr>
              <a:t> •</a:t>
            </a:r>
            <a:r>
              <a:rPr b="1" lang="en" sz="5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5200">
                <a:latin typeface="Arial"/>
                <a:ea typeface="Arial"/>
                <a:cs typeface="Arial"/>
                <a:sym typeface="Arial"/>
              </a:rPr>
              <a:t>9 columns – Review_ID, Text, Summary, Score, Product, Category, Sentiment, Votes, Date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latin typeface="Arial"/>
                <a:ea typeface="Arial"/>
                <a:cs typeface="Arial"/>
                <a:sym typeface="Arial"/>
              </a:rPr>
              <a:t>Size</a:t>
            </a:r>
            <a:br>
              <a:rPr b="1" lang="en" sz="4800">
                <a:latin typeface="Arial"/>
                <a:ea typeface="Arial"/>
                <a:cs typeface="Arial"/>
                <a:sym typeface="Arial"/>
              </a:rPr>
            </a:br>
            <a:r>
              <a:rPr lang="en" sz="4800"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lang="en" sz="5200">
                <a:latin typeface="Arial"/>
                <a:ea typeface="Arial"/>
                <a:cs typeface="Arial"/>
                <a:sym typeface="Arial"/>
              </a:rPr>
              <a:t>15,000 Amazon food reviews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latin typeface="Arial"/>
                <a:ea typeface="Arial"/>
                <a:cs typeface="Arial"/>
                <a:sym typeface="Arial"/>
              </a:rPr>
              <a:t>Strengths</a:t>
            </a:r>
            <a:br>
              <a:rPr b="1" lang="en" sz="4800">
                <a:latin typeface="Arial"/>
                <a:ea typeface="Arial"/>
                <a:cs typeface="Arial"/>
                <a:sym typeface="Arial"/>
              </a:rPr>
            </a:br>
            <a:r>
              <a:rPr b="1" lang="en" sz="4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480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5200">
                <a:latin typeface="Arial"/>
                <a:ea typeface="Arial"/>
                <a:cs typeface="Arial"/>
                <a:sym typeface="Arial"/>
              </a:rPr>
              <a:t>Rich, diverse, and sentiment-balanced dataset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0">
                <a:latin typeface="Playfair Display"/>
                <a:ea typeface="Playfair Display"/>
                <a:cs typeface="Playfair Display"/>
                <a:sym typeface="Playfair Display"/>
              </a:rPr>
              <a:t>REASON FOR CHOOSING THE DATASET</a:t>
            </a:r>
            <a:endParaRPr b="1" sz="6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latin typeface="Arial"/>
                <a:ea typeface="Arial"/>
                <a:cs typeface="Arial"/>
                <a:sym typeface="Arial"/>
              </a:rPr>
              <a:t>Controlled Data Quality</a:t>
            </a:r>
            <a:br>
              <a:rPr b="1" lang="en" sz="4800">
                <a:latin typeface="Arial"/>
                <a:ea typeface="Arial"/>
                <a:cs typeface="Arial"/>
                <a:sym typeface="Arial"/>
              </a:rPr>
            </a:br>
            <a:r>
              <a:rPr lang="en" sz="5200">
                <a:latin typeface="Arial"/>
                <a:ea typeface="Arial"/>
                <a:cs typeface="Arial"/>
                <a:sym typeface="Arial"/>
              </a:rPr>
              <a:t> • Clean and consistent reviews that reduce preprocessing complexity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latin typeface="Arial"/>
                <a:ea typeface="Arial"/>
                <a:cs typeface="Arial"/>
                <a:sym typeface="Arial"/>
              </a:rPr>
              <a:t>Wide Product &amp; Category Coverage</a:t>
            </a:r>
            <a:br>
              <a:rPr b="1" lang="en" sz="4800">
                <a:latin typeface="Arial"/>
                <a:ea typeface="Arial"/>
                <a:cs typeface="Arial"/>
                <a:sym typeface="Arial"/>
              </a:rPr>
            </a:br>
            <a:r>
              <a:rPr lang="en" sz="5200">
                <a:latin typeface="Arial"/>
                <a:ea typeface="Arial"/>
                <a:cs typeface="Arial"/>
                <a:sym typeface="Arial"/>
              </a:rPr>
              <a:t> • Covers 8 food categories and multiple products for better generalization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latin typeface="Arial"/>
                <a:ea typeface="Arial"/>
                <a:cs typeface="Arial"/>
                <a:sym typeface="Arial"/>
              </a:rPr>
              <a:t>Designed for NLP Performance</a:t>
            </a:r>
            <a:br>
              <a:rPr b="1" lang="en" sz="4800">
                <a:latin typeface="Arial"/>
                <a:ea typeface="Arial"/>
                <a:cs typeface="Arial"/>
                <a:sym typeface="Arial"/>
              </a:rPr>
            </a:br>
            <a:r>
              <a:rPr lang="en" sz="4800"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lang="en" sz="5200">
                <a:latin typeface="Arial"/>
                <a:ea typeface="Arial"/>
                <a:cs typeface="Arial"/>
                <a:sym typeface="Arial"/>
              </a:rPr>
              <a:t>Supports sentiment analysis, topic modeling, and text summarization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4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308325" y="275050"/>
            <a:ext cx="70389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Text Preprocessing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308325" y="751450"/>
            <a:ext cx="6739500" cy="4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Cleaning &amp; Normalization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Converted all text to lowercase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Removed URLs, numbers, and special characters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Removed extra whitespace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Tokenization &amp; Filtering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Tokenized text into individual words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Removed stopwords, including custom domain-specific terms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Filtered out short and meaningless words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Lemmatization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Converted words to their base form for consistency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Feature Extraction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Added Word Count and Character Count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Computed vocabulary size for dataset insights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b="1" sz="1357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TOPIC MODELING (LDA)</a:t>
            </a:r>
            <a:endParaRPr b="1" sz="3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119650"/>
            <a:ext cx="7038900" cy="33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• Used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Gensim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LDA to extract hidden themes from 15,000 cleaned reviews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r>
              <a:rPr lang="en" sz="1700">
                <a:latin typeface="Arial"/>
                <a:ea typeface="Arial"/>
                <a:cs typeface="Arial"/>
                <a:sym typeface="Arial"/>
              </a:rPr>
              <a:t> • Tokenized documents and created a filtered dictionary (removed rare/common words)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r>
              <a:rPr lang="en" sz="1700">
                <a:latin typeface="Arial"/>
                <a:ea typeface="Arial"/>
                <a:cs typeface="Arial"/>
                <a:sym typeface="Arial"/>
              </a:rPr>
              <a:t> • Built Bag-of-Words corpus for efficient topic learning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r>
              <a:rPr lang="en" sz="1700">
                <a:latin typeface="Arial"/>
                <a:ea typeface="Arial"/>
                <a:cs typeface="Arial"/>
                <a:sym typeface="Arial"/>
              </a:rPr>
              <a:t> • Trained LDA model with 8 topics, auto-tuned alpha and eta for better coherence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r>
              <a:rPr lang="en" sz="1700">
                <a:latin typeface="Arial"/>
                <a:ea typeface="Arial"/>
                <a:cs typeface="Arial"/>
                <a:sym typeface="Arial"/>
              </a:rPr>
              <a:t> • Identified top keywords for each topic to understand review themes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r>
              <a:rPr lang="en" sz="1700">
                <a:latin typeface="Arial"/>
                <a:ea typeface="Arial"/>
                <a:cs typeface="Arial"/>
                <a:sym typeface="Arial"/>
              </a:rPr>
              <a:t> • Saved trained LDA model for further analysis and visualization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351650" y="188425"/>
            <a:ext cx="7038900" cy="8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TOPIC OPTIMIZATION USING COHERENCE &amp; PERPLEXITY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1275" y="1412025"/>
            <a:ext cx="3356700" cy="28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Evaluated topic counts from 3 to 15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Coherence Score used to measure topic clarity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Perplexity used to assess model fit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Optimal topic count identified using highest coherence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Final LDA model trained with the best topic number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4725" y="1299400"/>
            <a:ext cx="5425024" cy="299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3662175" y="4346550"/>
            <a:ext cx="521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Coherence highlights </a:t>
            </a:r>
            <a:r>
              <a:rPr b="1" lang="en" sz="1200">
                <a:solidFill>
                  <a:schemeClr val="lt1"/>
                </a:solidFill>
              </a:rPr>
              <a:t>5 topics</a:t>
            </a:r>
            <a:r>
              <a:rPr lang="en" sz="1200">
                <a:solidFill>
                  <a:schemeClr val="lt1"/>
                </a:solidFill>
              </a:rPr>
              <a:t> as the most meaningful, and Perplexity trends support reliable model performance across topic sizes.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Summarization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1087175"/>
            <a:ext cx="7038900" cy="3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EXTRACTIVE SUMMARIZATION – MODEL TRAINING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LSA Summarizer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Uses TF-IDF + SVD to extract topic-important      sentences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TextRank Summarizer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Graph-based ranking using sentence     similarity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Hybrid Model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Combines LSA &amp; TextRank for best-quality summaries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Outcome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All models trained and saved for generating concise summaries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b="1" lang="en" sz="2600">
                <a:latin typeface="Playfair Display"/>
                <a:ea typeface="Playfair Display"/>
                <a:cs typeface="Playfair Display"/>
                <a:sym typeface="Playfair Display"/>
              </a:rPr>
              <a:t>Word Cloud Visualization</a:t>
            </a:r>
            <a:endParaRPr b="1" sz="2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284800" y="1281575"/>
            <a:ext cx="3019800" cy="32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• Generated word clouds for overall and sentiment-wise reviews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• Removed stopwords to highlight meaningful keywords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• Identified dominant terms to reveal key themes.</a:t>
            </a:r>
            <a:endParaRPr sz="2000"/>
          </a:p>
        </p:txBody>
      </p:sp>
      <p:pic>
        <p:nvPicPr>
          <p:cNvPr id="188" name="Google Shape;188;p21" title="downloa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250" y="1109600"/>
            <a:ext cx="5536324" cy="33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 flipH="1">
            <a:off x="3599125" y="4424150"/>
            <a:ext cx="52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Frequently occurring keywords highlight dominant product themes and overall customer sentiment.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User Interface Overview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2" title="interfac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300" y="985575"/>
            <a:ext cx="7602026" cy="384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297500" y="187625"/>
            <a:ext cx="70389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User Interface Features</a:t>
            </a:r>
            <a:endParaRPr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3" title="interface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575" y="755075"/>
            <a:ext cx="7850052" cy="36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1126150" y="4478750"/>
            <a:ext cx="767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Interactive interface enabling flexible text input and multi-feature NLP analysis.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0" name="Google Shape;210;p24"/>
          <p:cNvSpPr txBox="1"/>
          <p:nvPr>
            <p:ph idx="1" type="body"/>
          </p:nvPr>
        </p:nvSpPr>
        <p:spPr>
          <a:xfrm>
            <a:off x="1297500" y="1017925"/>
            <a:ext cx="7038900" cy="40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Handling Imbalanced Sentiment Data:</a:t>
            </a:r>
            <a:br>
              <a:rPr b="1" lang="en" sz="1600"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The dataset contained more neutral and positive reviews than       negative ones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• This affected the model’s ability to learn under-represented sentiment classes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Overlapping Sentiment Expressions:</a:t>
            </a:r>
            <a:br>
              <a:rPr b="1" lang="en" sz="1600"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Some reviews contained both positive and negative phrases, causing ambiguity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• Identifying the dominant sentiment required careful tuning and evaluation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Integrating Multiple Models in Streamlit:</a:t>
            </a:r>
            <a:br>
              <a:rPr b="1" lang="en" sz="1600"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latin typeface="Arial"/>
                <a:ea typeface="Arial"/>
                <a:cs typeface="Arial"/>
                <a:sym typeface="Arial"/>
              </a:rPr>
              <a:t> •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Managing TF-IDF, sentiment classifier, label encoder, and LDA models without version conflicts was challenging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• Handling session state, widget resets, and runtime stability required careful design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1297500" y="393750"/>
            <a:ext cx="70389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6" name="Google Shape;216;p25"/>
          <p:cNvSpPr txBox="1"/>
          <p:nvPr>
            <p:ph idx="1" type="body"/>
          </p:nvPr>
        </p:nvSpPr>
        <p:spPr>
          <a:xfrm>
            <a:off x="1297500" y="1007125"/>
            <a:ext cx="7038900" cy="34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Narrative Nexus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system successfully analyzes customer reviews using sentiment detection, topic modeling, keyword extraction, and visualization.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project demonstrates how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NLP and machine learning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can transform raw text into meaningful insights that support decision-making.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By integrating multiple models into a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user-friendly Streamlit application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the solution provides fast, interpretable, and visually appealing feedback for any Amazon food review.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Overall, the project provides a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reliable and easy-to-use tool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for understanding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customer feedback and supporting better decision-making.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/>
        </p:nvSpPr>
        <p:spPr>
          <a:xfrm>
            <a:off x="2871900" y="1917638"/>
            <a:ext cx="34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THANK YOU</a:t>
            </a:r>
            <a:endParaRPr sz="4000">
              <a:solidFill>
                <a:schemeClr val="lt1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1545500" y="1693551"/>
            <a:ext cx="903839" cy="1263763"/>
          </a:xfrm>
          <a:custGeom>
            <a:rect b="b" l="l" r="r" t="t"/>
            <a:pathLst>
              <a:path extrusionOk="0"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26"/>
          <p:cNvSpPr/>
          <p:nvPr/>
        </p:nvSpPr>
        <p:spPr>
          <a:xfrm>
            <a:off x="716852" y="1931800"/>
            <a:ext cx="828698" cy="877240"/>
          </a:xfrm>
          <a:custGeom>
            <a:rect b="b" l="l" r="r" t="t"/>
            <a:pathLst>
              <a:path extrusionOk="0"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26"/>
          <p:cNvSpPr/>
          <p:nvPr/>
        </p:nvSpPr>
        <p:spPr>
          <a:xfrm rot="10800000">
            <a:off x="6278911" y="1695579"/>
            <a:ext cx="919813" cy="1244521"/>
          </a:xfrm>
          <a:custGeom>
            <a:rect b="b" l="l" r="r" t="t"/>
            <a:pathLst>
              <a:path extrusionOk="0" h="1907312" w="1218296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26"/>
          <p:cNvSpPr/>
          <p:nvPr/>
        </p:nvSpPr>
        <p:spPr>
          <a:xfrm rot="10800000">
            <a:off x="7288895" y="1871362"/>
            <a:ext cx="650506" cy="1028488"/>
          </a:xfrm>
          <a:custGeom>
            <a:rect b="b" l="l" r="r" t="t"/>
            <a:pathLst>
              <a:path extrusionOk="0"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26"/>
          <p:cNvSpPr txBox="1"/>
          <p:nvPr/>
        </p:nvSpPr>
        <p:spPr>
          <a:xfrm>
            <a:off x="5242700" y="3784825"/>
            <a:ext cx="317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Name</a:t>
            </a:r>
            <a:r>
              <a:rPr lang="en" sz="1800">
                <a:solidFill>
                  <a:schemeClr val="lt1"/>
                </a:solidFill>
              </a:rPr>
              <a:t>: Manisha Gurugubelli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Batch</a:t>
            </a:r>
            <a:r>
              <a:rPr lang="en" sz="1800">
                <a:solidFill>
                  <a:schemeClr val="lt1"/>
                </a:solidFill>
              </a:rPr>
              <a:t>: 03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